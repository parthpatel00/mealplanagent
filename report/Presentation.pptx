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59"/>
  </p:normalViewPr>
  <p:slideViewPr>
    <p:cSldViewPr snapToGrid="0" snapToObjects="1">
      <p:cViewPr varScale="1">
        <p:scale>
          <a:sx n="111" d="100"/>
          <a:sy n="111" d="100"/>
        </p:scale>
        <p:origin x="2456" y="9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CB7450-AEAA-7A4E-9980-C8117698CB75}" type="datetimeFigureOut">
              <a:rPr lang="en-US" smtClean="0"/>
              <a:t>5/8/26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74246-9691-DE4F-A1DE-D678A5D94EC0}" type="slidenum">
              <a:rPr lang="en-US" smtClean="0"/>
              <a:t>‹#›</a:t>
            </a:fld>
            <a:endParaRPr lang="en-US"/>
          </a:p>
        </p:txBody>
      </p:sp>
    </p:spTree>
    <p:extLst>
      <p:ext uri="{BB962C8B-B14F-4D97-AF65-F5344CB8AC3E}">
        <p14:creationId xmlns:p14="http://schemas.microsoft.com/office/powerpoint/2010/main" val="2793250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1: Title</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Project name, subtitle, course info.</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"Our project is called </a:t>
            </a:r>
            <a:r>
              <a:rPr lang="en-US" sz="1200" b="0" i="0" kern="1200" dirty="0" err="1">
                <a:solidFill>
                  <a:schemeClr val="tx1"/>
                </a:solidFill>
                <a:effectLst/>
                <a:latin typeface="+mn-lt"/>
                <a:ea typeface="+mn-ea"/>
                <a:cs typeface="+mn-cs"/>
              </a:rPr>
              <a:t>MealPlanAgent</a:t>
            </a:r>
            <a:r>
              <a:rPr lang="en-US" sz="1200" b="0" i="0" kern="1200" dirty="0">
                <a:solidFill>
                  <a:schemeClr val="tx1"/>
                </a:solidFill>
                <a:effectLst/>
                <a:latin typeface="+mn-lt"/>
                <a:ea typeface="+mn-ea"/>
                <a:cs typeface="+mn-cs"/>
              </a:rPr>
              <a:t>. It's a meal planning system that uses a combination of keyword search, semantic search, and a knowledge graph to recommend real recipes from a database of 10,000 </a:t>
            </a:r>
            <a:r>
              <a:rPr lang="en-US" sz="1200" b="0" i="0" kern="1200" dirty="0" err="1">
                <a:solidFill>
                  <a:schemeClr val="tx1"/>
                </a:solidFill>
                <a:effectLst/>
                <a:latin typeface="+mn-lt"/>
                <a:ea typeface="+mn-ea"/>
                <a:cs typeface="+mn-cs"/>
              </a:rPr>
              <a:t>Food.com</a:t>
            </a:r>
            <a:r>
              <a:rPr lang="en-US" sz="1200" b="0" i="0" kern="1200" dirty="0">
                <a:solidFill>
                  <a:schemeClr val="tx1"/>
                </a:solidFill>
                <a:effectLst/>
                <a:latin typeface="+mn-lt"/>
                <a:ea typeface="+mn-ea"/>
                <a:cs typeface="+mn-cs"/>
              </a:rPr>
              <a:t> recipes. The core idea is Hybrid RAG, which stands for Retrieval-Augmented Generation, meaning the LLM doesn't make up recipes. It retrieves them from a verified database."</a:t>
            </a:r>
          </a:p>
          <a:p>
            <a:br>
              <a:rPr lang="en-US" dirty="0"/>
            </a:br>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1</a:t>
            </a:fld>
            <a:endParaRPr lang="en-US"/>
          </a:p>
        </p:txBody>
      </p:sp>
    </p:spTree>
    <p:extLst>
      <p:ext uri="{BB962C8B-B14F-4D97-AF65-F5344CB8AC3E}">
        <p14:creationId xmlns:p14="http://schemas.microsoft.com/office/powerpoint/2010/main" val="1234448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2: The Problem</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Left side lists problems with LLMs, right side shows a knowledge graph visualization of a single recipe.</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"The problem we're solving is that LLMs hallucinate recipes. They invent wrong cooking times, impossible ingredient combinations, and fake nutrition data. They might say a recipe is nut-free when it contains almond flour. Our solution is RAG: we ground every recipe in a real database. The LLM reasons about what to search for, but the actual recipes come from 10,000 verified </a:t>
            </a:r>
            <a:r>
              <a:rPr lang="en-US" sz="1200" b="0" i="0" kern="1200" dirty="0" err="1">
                <a:solidFill>
                  <a:schemeClr val="tx1"/>
                </a:solidFill>
                <a:effectLst/>
                <a:latin typeface="+mn-lt"/>
                <a:ea typeface="+mn-ea"/>
                <a:cs typeface="+mn-cs"/>
              </a:rPr>
              <a:t>Food.com</a:t>
            </a:r>
            <a:r>
              <a:rPr lang="en-US" sz="1200" b="0" i="0" kern="1200" dirty="0">
                <a:solidFill>
                  <a:schemeClr val="tx1"/>
                </a:solidFill>
                <a:effectLst/>
                <a:latin typeface="+mn-lt"/>
                <a:ea typeface="+mn-ea"/>
                <a:cs typeface="+mn-cs"/>
              </a:rPr>
              <a:t> entries with real nutrition data and traceable citations. The image on the right shows one recipe in our knowledge graph, connected to all its ingredients and tags."</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2</a:t>
            </a:fld>
            <a:endParaRPr lang="en-US"/>
          </a:p>
        </p:txBody>
      </p:sp>
    </p:spTree>
    <p:extLst>
      <p:ext uri="{BB962C8B-B14F-4D97-AF65-F5344CB8AC3E}">
        <p14:creationId xmlns:p14="http://schemas.microsoft.com/office/powerpoint/2010/main" val="198930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3: Architecture</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Text-based flowchart showing the pipeline from user input to results.</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"Here's how the system works end to end. The user types a natural language request like 'plan me 5 high-protein dinners, no peanuts, under 30 minutes.' A parser extracts structured fields: ingredients, cuisine, allergens, time limits, calories. The Planner, which is an LLM, generates search queries for each meal, including preferred ingredients and tags. The Executor runs 6 deterministic tools: recipe search using our hybrid retrieval, allergy checking, nutrition calculation, grocery list generation, budget estimation, and calendar creation. Finally, a rule-based Critic runs 5 verification checks. If anything fails, such as wrong meal count, time limit exceeded, or allergen found, it retries up to twice. The key design principle is: the LLM reasons, the code verifies."</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3</a:t>
            </a:fld>
            <a:endParaRPr lang="en-US"/>
          </a:p>
        </p:txBody>
      </p:sp>
    </p:spTree>
    <p:extLst>
      <p:ext uri="{BB962C8B-B14F-4D97-AF65-F5344CB8AC3E}">
        <p14:creationId xmlns:p14="http://schemas.microsoft.com/office/powerpoint/2010/main" val="1017863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4: Three-Stage Hybrid Retrieval</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Three cards explaining BM25, Vector, and RRF + KG. A pipeline arrow below. A heatmap chart at the bottom.</a:t>
            </a:r>
          </a:p>
          <a:p>
            <a:r>
              <a:rPr lang="en-US" sz="1200" b="1" i="0" kern="1200" dirty="0">
                <a:solidFill>
                  <a:schemeClr val="tx1"/>
                </a:solidFill>
                <a:effectLst/>
                <a:latin typeface="+mn-lt"/>
                <a:ea typeface="+mn-ea"/>
                <a:cs typeface="+mn-cs"/>
              </a:rPr>
              <a:t>Purpose of this study</a:t>
            </a:r>
            <a:r>
              <a:rPr lang="en-US" sz="1200" b="0" i="0" kern="1200" dirty="0">
                <a:solidFill>
                  <a:schemeClr val="tx1"/>
                </a:solidFill>
                <a:effectLst/>
                <a:latin typeface="+mn-lt"/>
                <a:ea typeface="+mn-ea"/>
                <a:cs typeface="+mn-cs"/>
              </a:rPr>
              <a:t>: "The core question of our project is: how should we search a recipe database? We built a three-stage retrieval system and then rigorously tested whether each stage actually helps."</a:t>
            </a:r>
          </a:p>
          <a:p>
            <a:r>
              <a:rPr lang="en-US" sz="1200" b="1" i="0" kern="1200" dirty="0">
                <a:solidFill>
                  <a:schemeClr val="tx1"/>
                </a:solidFill>
                <a:effectLst/>
                <a:latin typeface="+mn-lt"/>
                <a:ea typeface="+mn-ea"/>
                <a:cs typeface="+mn-cs"/>
              </a:rPr>
              <a:t>What each stage does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BM25 (Sparse search)</a:t>
            </a:r>
            <a:r>
              <a:rPr lang="en-US" sz="1200" b="0" i="0" kern="1200" dirty="0">
                <a:solidFill>
                  <a:schemeClr val="tx1"/>
                </a:solidFill>
                <a:effectLst/>
                <a:latin typeface="+mn-lt"/>
                <a:ea typeface="+mn-ea"/>
                <a:cs typeface="+mn-cs"/>
              </a:rPr>
              <a:t>: "BM25 is a traditional keyword matching algorithm. It's the same method search engines used before neural networks. It counts how often query words appear in a document, weighted by how rare those words are across all documents. So if you search 'vegetarian Mexican,' it finds recipes literally tagged with those words. It's great for exact matches but misses paraphrases. On its own, it gets a Precision@5 of 0.575, meaning about 58% of the top 5 results are relevant."</a:t>
            </a:r>
          </a:p>
          <a:p>
            <a:r>
              <a:rPr lang="en-US" sz="1200" b="1" i="0" kern="1200" dirty="0">
                <a:solidFill>
                  <a:schemeClr val="tx1"/>
                </a:solidFill>
                <a:effectLst/>
                <a:latin typeface="+mn-lt"/>
                <a:ea typeface="+mn-ea"/>
                <a:cs typeface="+mn-cs"/>
              </a:rPr>
              <a:t>Vector (Dense search)</a:t>
            </a:r>
            <a:r>
              <a:rPr lang="en-US" sz="1200" b="0" i="0" kern="1200" dirty="0">
                <a:solidFill>
                  <a:schemeClr val="tx1"/>
                </a:solidFill>
                <a:effectLst/>
                <a:latin typeface="+mn-lt"/>
                <a:ea typeface="+mn-ea"/>
                <a:cs typeface="+mn-cs"/>
              </a:rPr>
              <a:t>: "Vector search uses a neural network called all-MiniLM-L6-v2, a 22-million parameter sentence transformer, to convert recipes and queries into 384-dimensional vectors. Similar meanings end up close together in this space, so 'light summer dinner' can match salads even if those exact words don't appear. On its own, P@5 is only 0.255 because it's imprecise for exact constraints."</a:t>
            </a:r>
          </a:p>
          <a:p>
            <a:r>
              <a:rPr lang="en-US" sz="1200" b="1" i="0" kern="1200" dirty="0">
                <a:solidFill>
                  <a:schemeClr val="tx1"/>
                </a:solidFill>
                <a:effectLst/>
                <a:latin typeface="+mn-lt"/>
                <a:ea typeface="+mn-ea"/>
                <a:cs typeface="+mn-cs"/>
              </a:rPr>
              <a:t>RRF + KG Re-rank</a:t>
            </a:r>
            <a:r>
              <a:rPr lang="en-US" sz="1200" b="0" i="0" kern="1200" dirty="0">
                <a:solidFill>
                  <a:schemeClr val="tx1"/>
                </a:solidFill>
                <a:effectLst/>
                <a:latin typeface="+mn-lt"/>
                <a:ea typeface="+mn-ea"/>
                <a:cs typeface="+mn-cs"/>
              </a:rPr>
              <a:t>: "RRF stands for Reciprocal Rank Fusion. It merges the two ranked lists from BM25 and vector search using the formula: score equals 1 divided by (k plus rank plus 1), where k is a constant (default 60). Documents appearing in both lists get boosted. Then the Knowledge Graph re-ranks by checking how many of the user's preferred ingredients and tags overlap with each recipe's graph neighbors. Together, the full hybrid achieves P@5 of 0.655."</a:t>
            </a:r>
          </a:p>
          <a:p>
            <a:r>
              <a:rPr lang="en-US" sz="1200" b="1" i="0" kern="1200" dirty="0">
                <a:solidFill>
                  <a:schemeClr val="tx1"/>
                </a:solidFill>
                <a:effectLst/>
                <a:latin typeface="+mn-lt"/>
                <a:ea typeface="+mn-ea"/>
                <a:cs typeface="+mn-cs"/>
              </a:rPr>
              <a:t>What the heatmap shows</a:t>
            </a:r>
            <a:r>
              <a:rPr lang="en-US" sz="1200" b="0" i="0" kern="1200" dirty="0">
                <a:solidFill>
                  <a:schemeClr val="tx1"/>
                </a:solidFill>
                <a:effectLst/>
                <a:latin typeface="+mn-lt"/>
                <a:ea typeface="+mn-ea"/>
                <a:cs typeface="+mn-cs"/>
              </a:rPr>
              <a:t>: "The chart at the bottom is a component contribution heatmap. For the full hybrid config, 44% of results came from BM25 alone, 24% from vector search alone, and only 32% were found by both. That means 68% of results would be lost if you used only one system. The two search methods find genuinely different recipes, which is exactly why fusing them improves performance</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4</a:t>
            </a:fld>
            <a:endParaRPr lang="en-US"/>
          </a:p>
        </p:txBody>
      </p:sp>
    </p:spTree>
    <p:extLst>
      <p:ext uri="{BB962C8B-B14F-4D97-AF65-F5344CB8AC3E}">
        <p14:creationId xmlns:p14="http://schemas.microsoft.com/office/powerpoint/2010/main" val="496524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5</a:t>
            </a:fld>
            <a:endParaRPr lang="en-US"/>
          </a:p>
        </p:txBody>
      </p:sp>
    </p:spTree>
    <p:extLst>
      <p:ext uri="{BB962C8B-B14F-4D97-AF65-F5344CB8AC3E}">
        <p14:creationId xmlns:p14="http://schemas.microsoft.com/office/powerpoint/2010/main" val="641198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5: Knowledge Graph</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KG analysis charts showing degree distribution, node types, and connectivity.</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"Our knowledge graph has 15,807 nodes and 270,466 edges. There are three types of nodes: 9,999 recipes, 5,332 ingredients, and 476 tags. The charts show the structure of this graph. The degree distribution is heavily skewed: a few common ingredients like salt, sugar, and butter connect to thousands of recipes, while most ingredients connect to just a handful. This skewed structure is what makes the KG useful for re-ranking: it can identify recipes that share rare, specific ingredients with the user's preferences, not just common ones like salt."</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6</a:t>
            </a:fld>
            <a:endParaRPr lang="en-US"/>
          </a:p>
        </p:txBody>
      </p:sp>
    </p:spTree>
    <p:extLst>
      <p:ext uri="{BB962C8B-B14F-4D97-AF65-F5344CB8AC3E}">
        <p14:creationId xmlns:p14="http://schemas.microsoft.com/office/powerpoint/2010/main" val="1718373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6: Ablation Study Results</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Grouped bar chart comparing 6 retriever configurations across multiple metrics.</a:t>
            </a:r>
          </a:p>
          <a:p>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"An ablation study tests what happens when you remove components from a system. We wanted to know: does every part of our hybrid retrieval actually help, or are some components redundant?"</a:t>
            </a:r>
          </a:p>
          <a:p>
            <a:r>
              <a:rPr lang="en-US" sz="1200" b="1" i="0" kern="1200" dirty="0">
                <a:solidFill>
                  <a:schemeClr val="tx1"/>
                </a:solidFill>
                <a:effectLst/>
                <a:latin typeface="+mn-lt"/>
                <a:ea typeface="+mn-ea"/>
                <a:cs typeface="+mn-cs"/>
              </a:rPr>
              <a:t>The 6 configurations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vector_only</a:t>
            </a:r>
            <a:r>
              <a:rPr lang="en-US" sz="1200" b="0" i="0" kern="1200" dirty="0">
                <a:solidFill>
                  <a:schemeClr val="tx1"/>
                </a:solidFill>
                <a:effectLst/>
                <a:latin typeface="+mn-lt"/>
                <a:ea typeface="+mn-ea"/>
                <a:cs typeface="+mn-cs"/>
              </a:rPr>
              <a:t>: just the neural network embeddings"</a:t>
            </a:r>
          </a:p>
          <a:p>
            <a:r>
              <a:rPr lang="en-US" sz="1200" b="0" i="0" kern="1200" dirty="0">
                <a:solidFill>
                  <a:schemeClr val="tx1"/>
                </a:solidFill>
                <a:effectLst/>
                <a:latin typeface="+mn-lt"/>
                <a:ea typeface="+mn-ea"/>
                <a:cs typeface="+mn-cs"/>
              </a:rPr>
              <a:t>"bm25_only: just keyword matching"</a:t>
            </a:r>
          </a:p>
          <a:p>
            <a:r>
              <a:rPr lang="en-US" sz="1200" b="0" i="0" kern="1200" dirty="0">
                <a:solidFill>
                  <a:schemeClr val="tx1"/>
                </a:solidFill>
                <a:effectLst/>
                <a:latin typeface="+mn-lt"/>
                <a:ea typeface="+mn-ea"/>
                <a:cs typeface="+mn-cs"/>
              </a:rPr>
              <a:t>"vector_bm25: both searches fused with RRF, but no knowledge graph"</a:t>
            </a:r>
          </a:p>
          <a:p>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vector_kg</a:t>
            </a:r>
            <a:r>
              <a:rPr lang="en-US" sz="1200" b="0" i="0" kern="1200" dirty="0">
                <a:solidFill>
                  <a:schemeClr val="tx1"/>
                </a:solidFill>
                <a:effectLst/>
                <a:latin typeface="+mn-lt"/>
                <a:ea typeface="+mn-ea"/>
                <a:cs typeface="+mn-cs"/>
              </a:rPr>
              <a:t>: vector search plus KG re-ranking, no BM25"</a:t>
            </a:r>
          </a:p>
          <a:p>
            <a:r>
              <a:rPr lang="en-US" sz="1200" b="0" i="0" kern="1200" dirty="0">
                <a:solidFill>
                  <a:schemeClr val="tx1"/>
                </a:solidFill>
                <a:effectLst/>
                <a:latin typeface="+mn-lt"/>
                <a:ea typeface="+mn-ea"/>
                <a:cs typeface="+mn-cs"/>
              </a:rPr>
              <a:t>"bm25_kg: BM25 plus KG re-ranking, no vector"</a:t>
            </a:r>
          </a:p>
          <a:p>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all three components together"</a:t>
            </a:r>
          </a:p>
          <a:p>
            <a:r>
              <a:rPr lang="en-US" sz="1200" b="1" i="0" kern="1200" dirty="0">
                <a:solidFill>
                  <a:schemeClr val="tx1"/>
                </a:solidFill>
                <a:effectLst/>
                <a:latin typeface="+mn-lt"/>
                <a:ea typeface="+mn-ea"/>
                <a:cs typeface="+mn-cs"/>
              </a:rPr>
              <a:t>What the metrics mean</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"P@5 (Precision at 5): out of the top 5 results, what fraction is actually relevant? Higher is better."</a:t>
            </a:r>
          </a:p>
          <a:p>
            <a:r>
              <a:rPr lang="en-US" sz="1200" b="0" i="0" kern="1200" dirty="0">
                <a:solidFill>
                  <a:schemeClr val="tx1"/>
                </a:solidFill>
                <a:effectLst/>
                <a:latin typeface="+mn-lt"/>
                <a:ea typeface="+mn-ea"/>
                <a:cs typeface="+mn-cs"/>
              </a:rPr>
              <a:t>"MRR (Mean Reciprocal Rank): how high up is the first relevant result? A score of 1.0 means the first result is always relevant. 0.5 means the first relevant result is typically second."</a:t>
            </a:r>
          </a:p>
          <a:p>
            <a:r>
              <a:rPr lang="en-US" sz="1200" b="0" i="0" kern="1200" dirty="0">
                <a:solidFill>
                  <a:schemeClr val="tx1"/>
                </a:solidFill>
                <a:effectLst/>
                <a:latin typeface="+mn-lt"/>
                <a:ea typeface="+mn-ea"/>
                <a:cs typeface="+mn-cs"/>
              </a:rPr>
              <a:t>"NDCG@10 (Normalized Discounted Cumulative Gain at 10): like precision, but it gives more credit for relevant results appearing higher in the list and supports graded relevance (not just yes/no, but how relevant). Ranges from 0 to 1."</a:t>
            </a:r>
          </a:p>
          <a:p>
            <a:r>
              <a:rPr lang="en-US" sz="1200" b="0" i="0" kern="1200" dirty="0">
                <a:solidFill>
                  <a:schemeClr val="tx1"/>
                </a:solidFill>
                <a:effectLst/>
                <a:latin typeface="+mn-lt"/>
                <a:ea typeface="+mn-ea"/>
                <a:cs typeface="+mn-cs"/>
              </a:rPr>
              <a:t>"AP (Average Precision): precision averaged at each point where a relevant document is found."</a:t>
            </a:r>
          </a:p>
          <a:p>
            <a:r>
              <a:rPr lang="en-US" sz="1200" b="1" i="0" kern="1200" dirty="0">
                <a:solidFill>
                  <a:schemeClr val="tx1"/>
                </a:solidFill>
                <a:effectLst/>
                <a:latin typeface="+mn-lt"/>
                <a:ea typeface="+mn-ea"/>
                <a:cs typeface="+mn-cs"/>
              </a:rPr>
              <a:t>What to highlight</a:t>
            </a:r>
            <a:r>
              <a:rPr lang="en-US" sz="1200" b="0" i="0" kern="1200" dirty="0">
                <a:solidFill>
                  <a:schemeClr val="tx1"/>
                </a:solidFill>
                <a:effectLst/>
                <a:latin typeface="+mn-lt"/>
                <a:ea typeface="+mn-ea"/>
                <a:cs typeface="+mn-cs"/>
              </a:rPr>
              <a:t>: "In aggregate, full hybrid wins every metric: P@5 = 0.655, MRR = 0.688, NDCG@10 = 0.438. But the most interesting finding is what happens without the knowledge graph. vector_bm25, which fuses BM25 and vector search with RRF but has no KG, actually performs WORSE than bm25_only on every metric. P@5 drops from 0.575 to 0.365. That means RRF fusion alone dilutes BM25's strong signal with vector search's weaker results. The KG is what makes fusion work: it re-ranks the combined candidates using ingredient and tag overlap, recovering the relevant results that RRF alone buries."</a:t>
            </a:r>
          </a:p>
          <a:p>
            <a:r>
              <a:rPr lang="en-US" sz="1200" b="1" i="0" kern="1200" dirty="0">
                <a:solidFill>
                  <a:schemeClr val="tx1"/>
                </a:solidFill>
                <a:effectLst/>
                <a:latin typeface="+mn-lt"/>
                <a:ea typeface="+mn-ea"/>
                <a:cs typeface="+mn-cs"/>
              </a:rPr>
              <a:t>We tested on 40 queries</a:t>
            </a:r>
            <a:r>
              <a:rPr lang="en-US" sz="1200" b="0" i="0" kern="1200" dirty="0">
                <a:solidFill>
                  <a:schemeClr val="tx1"/>
                </a:solidFill>
                <a:effectLst/>
                <a:latin typeface="+mn-lt"/>
                <a:ea typeface="+mn-ea"/>
                <a:cs typeface="+mn-cs"/>
              </a:rPr>
              <a:t>: "These are stratified across 5 query types: single-tag, multi-tag, ingredient-based, natural language, and KG-graded queries, so the results aren't biased toward any one type."</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7</a:t>
            </a:fld>
            <a:endParaRPr lang="en-US"/>
          </a:p>
        </p:txBody>
      </p:sp>
    </p:spTree>
    <p:extLst>
      <p:ext uri="{BB962C8B-B14F-4D97-AF65-F5344CB8AC3E}">
        <p14:creationId xmlns:p14="http://schemas.microsoft.com/office/powerpoint/2010/main" val="3231165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7: Statistical Significance</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Ablation bar chart with confidence interval error bars. Text box with key statistics.</a:t>
            </a:r>
          </a:p>
          <a:p>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"Good results aren't enough for an academic paper. We need to prove the differences aren't due to random chance."</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"This is the same ablation data but with 95% confidence intervals shown as error bars. The intervals were computed using bootstrap resampling with 1,000 iterations. The key comparison is </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versus </a:t>
            </a:r>
            <a:r>
              <a:rPr lang="en-US" sz="1200" b="0" i="0" kern="1200" dirty="0" err="1">
                <a:solidFill>
                  <a:schemeClr val="tx1"/>
                </a:solidFill>
                <a:effectLst/>
                <a:latin typeface="+mn-lt"/>
                <a:ea typeface="+mn-ea"/>
                <a:cs typeface="+mn-cs"/>
              </a:rPr>
              <a:t>vector_only</a:t>
            </a:r>
            <a:r>
              <a:rPr lang="en-US" sz="1200" b="0" i="0" kern="1200" dirty="0">
                <a:solidFill>
                  <a:schemeClr val="tx1"/>
                </a:solidFill>
                <a:effectLst/>
                <a:latin typeface="+mn-lt"/>
                <a:ea typeface="+mn-ea"/>
                <a:cs typeface="+mn-cs"/>
              </a:rPr>
              <a:t> on Precision@5: Cohen's d = 1.225 (a large effect size, anything above 0.8 is large), p &lt; 0.001, and it remains significant after Bonferroni correction. Precision@10 is also strongly significant (d = 1.359). MRR and Recall@10 show medium effect sizes (d = 0.73 and 0.69) and pass Bonferroni. NDCG@10 has a smaller effect (d = 0.43) and does not pass Bonferroni correction, partly because only a subset of queries have graded relevance judgments. When the KG is completely disabled (weight set to 0), P@5 drops by 44% and NDCG@10 drops by 47%."</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8</a:t>
            </a:fld>
            <a:endParaRPr lang="en-US"/>
          </a:p>
        </p:txBody>
      </p:sp>
    </p:spTree>
    <p:extLst>
      <p:ext uri="{BB962C8B-B14F-4D97-AF65-F5344CB8AC3E}">
        <p14:creationId xmlns:p14="http://schemas.microsoft.com/office/powerpoint/2010/main" val="2637941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8: Hyperparameter Sensitivity</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Line plots showing how metrics change as each parameter varies. Text bullets below.</a:t>
            </a:r>
          </a:p>
          <a:p>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"Hyperparameters are the tunable knobs in our system. We need to understand how sensitive the results are to these choices, so users know which ones matter most and which are safe to leave at defaults."</a:t>
            </a:r>
          </a:p>
          <a:p>
            <a:r>
              <a:rPr lang="en-US" sz="1200" b="1" i="0" kern="1200" dirty="0">
                <a:solidFill>
                  <a:schemeClr val="tx1"/>
                </a:solidFill>
                <a:effectLst/>
                <a:latin typeface="+mn-lt"/>
                <a:ea typeface="+mn-ea"/>
                <a:cs typeface="+mn-cs"/>
              </a:rPr>
              <a:t>What each parameter does and what we found</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top_k</a:t>
            </a:r>
            <a:r>
              <a:rPr lang="en-US" sz="1200" b="0" i="0" kern="1200" dirty="0">
                <a:solidFill>
                  <a:schemeClr val="tx1"/>
                </a:solidFill>
                <a:effectLst/>
                <a:latin typeface="+mn-lt"/>
                <a:ea typeface="+mn-ea"/>
                <a:cs typeface="+mn-cs"/>
              </a:rPr>
              <a:t> (how many final results to return): "This is the most impactful parameter. Going from k=5 to k=50 improves NDCG@10 by 156%. This makes sense: deeper retrieval gives the KG more candidates to re-rank, amplifying its effect."</a:t>
            </a:r>
          </a:p>
          <a:p>
            <a:r>
              <a:rPr lang="en-US" sz="1200" b="1" i="0" kern="1200" dirty="0" err="1">
                <a:solidFill>
                  <a:schemeClr val="tx1"/>
                </a:solidFill>
                <a:effectLst/>
                <a:latin typeface="+mn-lt"/>
                <a:ea typeface="+mn-ea"/>
                <a:cs typeface="+mn-cs"/>
              </a:rPr>
              <a:t>rrf_k</a:t>
            </a:r>
            <a:r>
              <a:rPr lang="en-US" sz="1200" b="0" i="0" kern="1200" dirty="0">
                <a:solidFill>
                  <a:schemeClr val="tx1"/>
                </a:solidFill>
                <a:effectLst/>
                <a:latin typeface="+mn-lt"/>
                <a:ea typeface="+mn-ea"/>
                <a:cs typeface="+mn-cs"/>
              </a:rPr>
              <a:t> (the constant in the RRF fusion formula): "This controls how much weight goes to top-ranked versus lower-ranked documents. Low k means only the very top matters; high k spreads weight more evenly. We found it's robust across the range [30, 200]. Our default of 60 is near-optimal, so you don't need to tune this."</a:t>
            </a:r>
          </a:p>
          <a:p>
            <a:r>
              <a:rPr lang="en-US" sz="1200" b="1" i="0" kern="1200" dirty="0" err="1">
                <a:solidFill>
                  <a:schemeClr val="tx1"/>
                </a:solidFill>
                <a:effectLst/>
                <a:latin typeface="+mn-lt"/>
                <a:ea typeface="+mn-ea"/>
                <a:cs typeface="+mn-cs"/>
              </a:rPr>
              <a:t>kg_boost_weight</a:t>
            </a:r>
            <a:r>
              <a:rPr lang="en-US" sz="1200" b="0" i="0" kern="1200" dirty="0">
                <a:solidFill>
                  <a:schemeClr val="tx1"/>
                </a:solidFill>
                <a:effectLst/>
                <a:latin typeface="+mn-lt"/>
                <a:ea typeface="+mn-ea"/>
                <a:cs typeface="+mn-cs"/>
              </a:rPr>
              <a:t> (how much the knowledge graph influences the final score): "This has a binary effect. Any weight above 0, even as small as 0.05, restores full performance. Setting it to 0 drops P@5 by 44%. But there's no degradation at high weights either, so anywhere from 0.05 to 1.0 works fine."</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9</a:t>
            </a:fld>
            <a:endParaRPr lang="en-US"/>
          </a:p>
        </p:txBody>
      </p:sp>
    </p:spTree>
    <p:extLst>
      <p:ext uri="{BB962C8B-B14F-4D97-AF65-F5344CB8AC3E}">
        <p14:creationId xmlns:p14="http://schemas.microsoft.com/office/powerpoint/2010/main" val="454224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9: Performance by Query Type</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Grouped chart on the left showing metrics broken down by query type. Bullet explanations on the right.</a:t>
            </a:r>
          </a:p>
          <a:p>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"Different users search differently. Some type tags like 'vegetarian,' some list ingredients like 'chicken rice broccoli,' and some write natural language like 'something light for summer.' We need to know which retrieval components help which query types."</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"Single-tag queries are easy for everyone, with MRR from 0.875 to 1.0. But tag-pair queries show more spread: </a:t>
            </a:r>
            <a:r>
              <a:rPr lang="en-US" sz="1200" b="0" i="0" kern="1200" dirty="0" err="1">
                <a:solidFill>
                  <a:schemeClr val="tx1"/>
                </a:solidFill>
                <a:effectLst/>
                <a:latin typeface="+mn-lt"/>
                <a:ea typeface="+mn-ea"/>
                <a:cs typeface="+mn-cs"/>
              </a:rPr>
              <a:t>vector_only</a:t>
            </a:r>
            <a:r>
              <a:rPr lang="en-US" sz="1200" b="0" i="0" kern="1200" dirty="0">
                <a:solidFill>
                  <a:schemeClr val="tx1"/>
                </a:solidFill>
                <a:effectLst/>
                <a:latin typeface="+mn-lt"/>
                <a:ea typeface="+mn-ea"/>
                <a:cs typeface="+mn-cs"/>
              </a:rPr>
              <a:t> drops to 0.40 while </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hits 1.0. The knowledge graph makes the biggest difference for ingredient queries, boosting MRR from 0.17 (</a:t>
            </a:r>
            <a:r>
              <a:rPr lang="en-US" sz="1200" b="0" i="0" kern="1200" dirty="0" err="1">
                <a:solidFill>
                  <a:schemeClr val="tx1"/>
                </a:solidFill>
                <a:effectLst/>
                <a:latin typeface="+mn-lt"/>
                <a:ea typeface="+mn-ea"/>
                <a:cs typeface="+mn-cs"/>
              </a:rPr>
              <a:t>vector_only</a:t>
            </a:r>
            <a:r>
              <a:rPr lang="en-US" sz="1200" b="0" i="0" kern="1200" dirty="0">
                <a:solidFill>
                  <a:schemeClr val="tx1"/>
                </a:solidFill>
                <a:effectLst/>
                <a:latin typeface="+mn-lt"/>
                <a:ea typeface="+mn-ea"/>
                <a:cs typeface="+mn-cs"/>
              </a:rPr>
              <a:t>) to 0.75 (</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For natural language queries, BM25-based configs actually lead at 0.56 MRR, while </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drops to 0.33. This is because RRF fusion dilutes BM25's strong keyword signal with weaker vector results on NL queries. The takeaway is nuanced: </a:t>
            </a:r>
            <a:r>
              <a:rPr lang="en-US" sz="1200" b="0" i="0" kern="1200" dirty="0" err="1">
                <a:solidFill>
                  <a:schemeClr val="tx1"/>
                </a:solidFill>
                <a:effectLst/>
                <a:latin typeface="+mn-lt"/>
                <a:ea typeface="+mn-ea"/>
                <a:cs typeface="+mn-cs"/>
              </a:rPr>
              <a:t>full_hybrid</a:t>
            </a:r>
            <a:r>
              <a:rPr lang="en-US" sz="1200" b="0" i="0" kern="1200" dirty="0">
                <a:solidFill>
                  <a:schemeClr val="tx1"/>
                </a:solidFill>
                <a:effectLst/>
                <a:latin typeface="+mn-lt"/>
                <a:ea typeface="+mn-ea"/>
                <a:cs typeface="+mn-cs"/>
              </a:rPr>
              <a:t> wins in aggregate because it dominates tag and ingredient queries by a large margin, but it has a real weakness on natural language queries where pure BM25 is better. Each component genuinely excels at different query types."</a:t>
            </a:r>
          </a:p>
          <a:p>
            <a:br>
              <a:rPr lang="en-US" dirty="0"/>
            </a:br>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10</a:t>
            </a:fld>
            <a:endParaRPr lang="en-US"/>
          </a:p>
        </p:txBody>
      </p:sp>
    </p:spTree>
    <p:extLst>
      <p:ext uri="{BB962C8B-B14F-4D97-AF65-F5344CB8AC3E}">
        <p14:creationId xmlns:p14="http://schemas.microsoft.com/office/powerpoint/2010/main" val="4130922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10: Embedding Space Visualization</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UMAP plot on the left, t-SNE plot on the right. Both show 2,000 recipe embeddings colored by cuisine.</a:t>
            </a:r>
          </a:p>
          <a:p>
            <a:r>
              <a:rPr lang="en-US" sz="1200" b="1" i="0" kern="1200" dirty="0">
                <a:solidFill>
                  <a:schemeClr val="tx1"/>
                </a:solidFill>
                <a:effectLst/>
                <a:latin typeface="+mn-lt"/>
                <a:ea typeface="+mn-ea"/>
                <a:cs typeface="+mn-cs"/>
              </a:rPr>
              <a:t>What these are</a:t>
            </a:r>
            <a:r>
              <a:rPr lang="en-US" sz="1200" b="0" i="0" kern="1200" dirty="0">
                <a:solidFill>
                  <a:schemeClr val="tx1"/>
                </a:solidFill>
                <a:effectLst/>
                <a:latin typeface="+mn-lt"/>
                <a:ea typeface="+mn-ea"/>
                <a:cs typeface="+mn-cs"/>
              </a:rPr>
              <a:t>: "UMAP and t-SNE are dimensionality reduction techniques. Our recipe embeddings live in 384-dimensional space, which we can't visualize. These algorithms compress that down to 2D while trying to preserve the neighborhood structure, so similar recipes stay close together."</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 "Each dot is a recipe, colored by its cuisine tag (Mexican, Italian, Indian, etc.). You can see some clustering, meaning the embedding model does capture cuisine similarity. But the silhouette score is -0.269, which means the clusters overlap significantly. This makes sense: a 'chicken stir-fry' could be Chinese, Thai, or American, and ingredients overlap across cuisines. This is actually why we need the knowledge graph on top of vector search. The embeddings alone can't cleanly separate cuisines, but the KG can boost results that share specific ingredients with the user's preferences."</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11</a:t>
            </a:fld>
            <a:endParaRPr lang="en-US"/>
          </a:p>
        </p:txBody>
      </p:sp>
    </p:spTree>
    <p:extLst>
      <p:ext uri="{BB962C8B-B14F-4D97-AF65-F5344CB8AC3E}">
        <p14:creationId xmlns:p14="http://schemas.microsoft.com/office/powerpoint/2010/main" val="1539509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11: Precision-Recall &amp; Latency</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Precision-recall curves on the left, latency box plot on the right.</a:t>
            </a:r>
          </a:p>
          <a:p>
            <a:r>
              <a:rPr lang="en-US" sz="1200" b="1" i="0" kern="1200" dirty="0">
                <a:solidFill>
                  <a:schemeClr val="tx1"/>
                </a:solidFill>
                <a:effectLst/>
                <a:latin typeface="+mn-lt"/>
                <a:ea typeface="+mn-ea"/>
                <a:cs typeface="+mn-cs"/>
              </a:rPr>
              <a:t>Precision-Recall curves</a:t>
            </a:r>
            <a:r>
              <a:rPr lang="en-US" sz="1200" b="0" i="0" kern="1200" dirty="0">
                <a:solidFill>
                  <a:schemeClr val="tx1"/>
                </a:solidFill>
                <a:effectLst/>
                <a:latin typeface="+mn-lt"/>
                <a:ea typeface="+mn-ea"/>
                <a:cs typeface="+mn-cs"/>
              </a:rPr>
              <a:t>: "These show the tradeoff between precision (what fraction of results are relevant) and recall (what fraction of all relevant items did we find) as we vary k from 1 to 20. The full hybrid curve dominates, staying higher and further right than other configs. A curve closer to the top-right corner is better."</a:t>
            </a:r>
          </a:p>
          <a:p>
            <a:r>
              <a:rPr lang="en-US" sz="1200" b="1" i="0" kern="1200" dirty="0">
                <a:solidFill>
                  <a:schemeClr val="tx1"/>
                </a:solidFill>
                <a:effectLst/>
                <a:latin typeface="+mn-lt"/>
                <a:ea typeface="+mn-ea"/>
                <a:cs typeface="+mn-cs"/>
              </a:rPr>
              <a:t>Latency</a:t>
            </a:r>
            <a:r>
              <a:rPr lang="en-US" sz="1200" b="0" i="0" kern="1200" dirty="0">
                <a:solidFill>
                  <a:schemeClr val="tx1"/>
                </a:solidFill>
                <a:effectLst/>
                <a:latin typeface="+mn-lt"/>
                <a:ea typeface="+mn-ea"/>
                <a:cs typeface="+mn-cs"/>
              </a:rPr>
              <a:t>: "The box plot shows retrieval time per query for each configuration. The full hybrid is slightly slower because it runs all three components, but the difference is small, typically under 200 milliseconds total. For a meal planning use case, this latency is negligible."</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12</a:t>
            </a:fld>
            <a:endParaRPr lang="en-US"/>
          </a:p>
        </p:txBody>
      </p:sp>
    </p:spTree>
    <p:extLst>
      <p:ext uri="{BB962C8B-B14F-4D97-AF65-F5344CB8AC3E}">
        <p14:creationId xmlns:p14="http://schemas.microsoft.com/office/powerpoint/2010/main" val="132167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Slide 12: Key Takeaways</a:t>
            </a:r>
          </a:p>
          <a:p>
            <a:r>
              <a:rPr lang="en-US" sz="1200" b="1" i="0" kern="1200" dirty="0">
                <a:solidFill>
                  <a:schemeClr val="tx1"/>
                </a:solidFill>
                <a:effectLst/>
                <a:latin typeface="+mn-lt"/>
                <a:ea typeface="+mn-ea"/>
                <a:cs typeface="+mn-cs"/>
              </a:rPr>
              <a:t>On the slide</a:t>
            </a:r>
            <a:r>
              <a:rPr lang="en-US" sz="1200" b="0" i="0" kern="1200" dirty="0">
                <a:solidFill>
                  <a:schemeClr val="tx1"/>
                </a:solidFill>
                <a:effectLst/>
                <a:latin typeface="+mn-lt"/>
                <a:ea typeface="+mn-ea"/>
                <a:cs typeface="+mn-cs"/>
              </a:rPr>
              <a:t>: Four conclusion cards with headline and supporting data.</a:t>
            </a:r>
          </a:p>
          <a:p>
            <a:r>
              <a:rPr lang="en-US" sz="1200" b="1" i="0" kern="1200" dirty="0">
                <a:solidFill>
                  <a:schemeClr val="tx1"/>
                </a:solidFill>
                <a:effectLst/>
                <a:latin typeface="+mn-lt"/>
                <a:ea typeface="+mn-ea"/>
                <a:cs typeface="+mn-cs"/>
              </a:rPr>
              <a:t>Say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"First, in aggregate, full hybrid wins every metric: P@5 = 0.655, MRR = 0.688, NDCG@10 = 0.438. The improvement over vector-only is large and statistically significant for precision (d=1.225, p&lt;0.001 on P@5). Compared to the strong BM25 baseline, the improvement is a more modest but consistent 13.9%."</a:t>
            </a:r>
          </a:p>
          <a:p>
            <a:r>
              <a:rPr lang="en-US" sz="1200" b="0" i="0" kern="1200" dirty="0">
                <a:solidFill>
                  <a:schemeClr val="tx1"/>
                </a:solidFill>
                <a:effectLst/>
                <a:latin typeface="+mn-lt"/>
                <a:ea typeface="+mn-ea"/>
                <a:cs typeface="+mn-cs"/>
              </a:rPr>
              <a:t>"Second, the knowledge graph is essential, not optional. Without it, RRF fusion of BM25 and vector search actually performs worse than BM25 alone, dropping P@5 by 36%. The KG is what makes fusion work: it re-ranks the combined candidates using ingredient overlap, recovering the relevant results that RRF alone buries. Disabling KG drops P@5 by 44%."</a:t>
            </a:r>
          </a:p>
          <a:p>
            <a:r>
              <a:rPr lang="en-US" sz="1200" b="0" i="0" kern="1200" dirty="0">
                <a:solidFill>
                  <a:schemeClr val="tx1"/>
                </a:solidFill>
                <a:effectLst/>
                <a:latin typeface="+mn-lt"/>
                <a:ea typeface="+mn-ea"/>
                <a:cs typeface="+mn-cs"/>
              </a:rPr>
              <a:t>"Third, </a:t>
            </a:r>
            <a:r>
              <a:rPr lang="en-US" sz="1200" b="0" i="0" kern="1200" dirty="0" err="1">
                <a:solidFill>
                  <a:schemeClr val="tx1"/>
                </a:solidFill>
                <a:effectLst/>
                <a:latin typeface="+mn-lt"/>
                <a:ea typeface="+mn-ea"/>
                <a:cs typeface="+mn-cs"/>
              </a:rPr>
              <a:t>top_k</a:t>
            </a:r>
            <a:r>
              <a:rPr lang="en-US" sz="1200" b="0" i="0" kern="1200" dirty="0">
                <a:solidFill>
                  <a:schemeClr val="tx1"/>
                </a:solidFill>
                <a:effectLst/>
                <a:latin typeface="+mn-lt"/>
                <a:ea typeface="+mn-ea"/>
                <a:cs typeface="+mn-cs"/>
              </a:rPr>
              <a:t> is the most impactful hyperparameter. Going from 5 to 50 results improves NDCG@10 by 156% and AP by 189%, because deeper retrieval gives the KG more candidates to re-rank effectively."</a:t>
            </a:r>
          </a:p>
          <a:p>
            <a:r>
              <a:rPr lang="en-US" sz="1200" b="0" i="0" kern="1200" dirty="0">
                <a:solidFill>
                  <a:schemeClr val="tx1"/>
                </a:solidFill>
                <a:effectLst/>
                <a:latin typeface="+mn-lt"/>
                <a:ea typeface="+mn-ea"/>
                <a:cs typeface="+mn-cs"/>
              </a:rPr>
              <a:t>"Fourth, each component has genuine strengths and weaknesses. BM25 dominates natural language queries (MRR 0.56 vs full hybrid's 0.33). The KG drives ingredient queries (MRR 0.17 to 0.75). Full hybrid dominates tag-pair and ingredient queries by large margins. No single configuration is best everywhere, but full hybrid wins in aggregate because its strengths outweigh its NL weakness."</a:t>
            </a:r>
          </a:p>
          <a:p>
            <a:r>
              <a:rPr lang="en-US" sz="1200" b="1" i="0" kern="1200" dirty="0">
                <a:solidFill>
                  <a:schemeClr val="tx1"/>
                </a:solidFill>
                <a:effectLst/>
                <a:latin typeface="+mn-lt"/>
                <a:ea typeface="+mn-ea"/>
                <a:cs typeface="+mn-cs"/>
              </a:rPr>
              <a:t>Closing</a:t>
            </a:r>
            <a:r>
              <a:rPr lang="en-US" sz="1200" b="0" i="0" kern="1200" dirty="0">
                <a:solidFill>
                  <a:schemeClr val="tx1"/>
                </a:solidFill>
                <a:effectLst/>
                <a:latin typeface="+mn-lt"/>
                <a:ea typeface="+mn-ea"/>
                <a:cs typeface="+mn-cs"/>
              </a:rPr>
              <a:t>: "In summary, the knowledge graph is the key innovation. It transforms RRF fusion from a net negative into a net positive, and it provides the largest single-component lift across 40 stratified queries. The results are statistically robust, with 4 of 5 metrics passing Bonferroni-corrected significance testing."</a:t>
            </a:r>
          </a:p>
          <a:p>
            <a:endParaRPr lang="en-US" dirty="0"/>
          </a:p>
        </p:txBody>
      </p:sp>
      <p:sp>
        <p:nvSpPr>
          <p:cNvPr id="4" name="Slide Number Placeholder 3"/>
          <p:cNvSpPr>
            <a:spLocks noGrp="1"/>
          </p:cNvSpPr>
          <p:nvPr>
            <p:ph type="sldNum" sz="quarter" idx="5"/>
          </p:nvPr>
        </p:nvSpPr>
        <p:spPr/>
        <p:txBody>
          <a:bodyPr/>
          <a:lstStyle/>
          <a:p>
            <a:fld id="{AF674246-9691-DE4F-A1DE-D678A5D94EC0}" type="slidenum">
              <a:rPr lang="en-US" smtClean="0"/>
              <a:t>13</a:t>
            </a:fld>
            <a:endParaRPr lang="en-US"/>
          </a:p>
        </p:txBody>
      </p:sp>
    </p:spTree>
    <p:extLst>
      <p:ext uri="{BB962C8B-B14F-4D97-AF65-F5344CB8AC3E}">
        <p14:creationId xmlns:p14="http://schemas.microsoft.com/office/powerpoint/2010/main" val="1995574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645920"/>
            <a:ext cx="10058400" cy="1097280"/>
          </a:xfrm>
          <a:prstGeom prst="rect">
            <a:avLst/>
          </a:prstGeom>
          <a:noFill/>
        </p:spPr>
        <p:txBody>
          <a:bodyPr wrap="square" anchor="t">
            <a:spAutoFit/>
          </a:bodyPr>
          <a:lstStyle/>
          <a:p>
            <a:pPr algn="ctr">
              <a:defRPr sz="4800" b="1">
                <a:solidFill>
                  <a:srgbClr val="00D2FF"/>
                </a:solidFill>
              </a:defRPr>
            </a:pPr>
            <a:r>
              <a:t>MealPlanAgent</a:t>
            </a:r>
          </a:p>
        </p:txBody>
      </p:sp>
      <p:sp>
        <p:nvSpPr>
          <p:cNvPr id="3" name="TextBox 2"/>
          <p:cNvSpPr txBox="1"/>
          <p:nvPr/>
        </p:nvSpPr>
        <p:spPr>
          <a:xfrm>
            <a:off x="914400" y="2926080"/>
            <a:ext cx="10058400" cy="731520"/>
          </a:xfrm>
          <a:prstGeom prst="rect">
            <a:avLst/>
          </a:prstGeom>
          <a:noFill/>
        </p:spPr>
        <p:txBody>
          <a:bodyPr wrap="square" anchor="t">
            <a:spAutoFit/>
          </a:bodyPr>
          <a:lstStyle/>
          <a:p>
            <a:pPr algn="ctr">
              <a:defRPr sz="2400" b="0">
                <a:solidFill>
                  <a:srgbClr val="FFFFFF"/>
                </a:solidFill>
              </a:defRPr>
            </a:pPr>
            <a:r>
              <a:t>Hybrid RAG with Knowledge Graph Re-ranking</a:t>
            </a:r>
            <a:br/>
            <a:r>
              <a:t>for Recipe Recommendation</a:t>
            </a:r>
          </a:p>
        </p:txBody>
      </p:sp>
      <p:sp>
        <p:nvSpPr>
          <p:cNvPr id="4" name="TextBox 3"/>
          <p:cNvSpPr txBox="1"/>
          <p:nvPr/>
        </p:nvSpPr>
        <p:spPr>
          <a:xfrm>
            <a:off x="914400" y="4572000"/>
            <a:ext cx="10058400" cy="548640"/>
          </a:xfrm>
          <a:prstGeom prst="rect">
            <a:avLst/>
          </a:prstGeom>
          <a:noFill/>
        </p:spPr>
        <p:txBody>
          <a:bodyPr wrap="square" anchor="t">
            <a:spAutoFit/>
          </a:bodyPr>
          <a:lstStyle/>
          <a:p>
            <a:pPr algn="ctr">
              <a:defRPr sz="1600" b="0">
                <a:solidFill>
                  <a:srgbClr val="BBBBBB"/>
                </a:solidFill>
              </a:defRPr>
            </a:pPr>
            <a:r>
              <a:t>CMPE 258  |  Deep Learning  |  San Jose State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640080"/>
          </a:xfrm>
          <a:prstGeom prst="rect">
            <a:avLst/>
          </a:prstGeom>
          <a:noFill/>
        </p:spPr>
        <p:txBody>
          <a:bodyPr wrap="square" anchor="t">
            <a:spAutoFit/>
          </a:bodyPr>
          <a:lstStyle/>
          <a:p>
            <a:pPr algn="l">
              <a:defRPr sz="3200" b="1">
                <a:solidFill>
                  <a:srgbClr val="00D2FF"/>
                </a:solidFill>
              </a:defRPr>
            </a:pPr>
            <a:r>
              <a:t>The Problem</a:t>
            </a:r>
          </a:p>
        </p:txBody>
      </p:sp>
      <p:sp>
        <p:nvSpPr>
          <p:cNvPr id="3" name="Rectangle 2"/>
          <p:cNvSpPr/>
          <p:nvPr/>
        </p:nvSpPr>
        <p:spPr>
          <a:xfrm>
            <a:off x="731520" y="1188720"/>
            <a:ext cx="5029200" cy="22860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371600"/>
            <a:ext cx="4572000" cy="2011680"/>
          </a:xfrm>
          <a:prstGeom prst="rect">
            <a:avLst/>
          </a:prstGeom>
          <a:noFill/>
        </p:spPr>
        <p:txBody>
          <a:bodyPr wrap="square" anchor="t">
            <a:spAutoFit/>
          </a:bodyPr>
          <a:lstStyle/>
          <a:p>
            <a:pPr algn="l">
              <a:defRPr sz="1800" b="0">
                <a:solidFill>
                  <a:srgbClr val="FFFFFF"/>
                </a:solidFill>
              </a:defRPr>
            </a:pPr>
            <a:r>
              <a:t>LLMs hallucinate recipes:</a:t>
            </a:r>
            <a:br/>
            <a:r>
              <a:t>  Wrong cooking times</a:t>
            </a:r>
            <a:br/>
            <a:r>
              <a:t>  Impossible ingredient combos</a:t>
            </a:r>
            <a:br/>
            <a:r>
              <a:t>  Fabricated nutrition data</a:t>
            </a:r>
            <a:br/>
            <a:r>
              <a:t>  "Nut-free" with almond flour</a:t>
            </a:r>
          </a:p>
        </p:txBody>
      </p:sp>
      <p:sp>
        <p:nvSpPr>
          <p:cNvPr id="5" name="Rectangle 4"/>
          <p:cNvSpPr/>
          <p:nvPr/>
        </p:nvSpPr>
        <p:spPr>
          <a:xfrm>
            <a:off x="731520" y="3749039"/>
            <a:ext cx="5029200" cy="22860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3931920"/>
            <a:ext cx="4572000" cy="2011680"/>
          </a:xfrm>
          <a:prstGeom prst="rect">
            <a:avLst/>
          </a:prstGeom>
          <a:noFill/>
        </p:spPr>
        <p:txBody>
          <a:bodyPr wrap="square" anchor="t">
            <a:spAutoFit/>
          </a:bodyPr>
          <a:lstStyle/>
          <a:p>
            <a:pPr algn="l">
              <a:defRPr sz="1800" b="0">
                <a:solidFill>
                  <a:srgbClr val="FFFFFF"/>
                </a:solidFill>
              </a:defRPr>
            </a:pPr>
            <a:r>
              <a:t>Our solution: RAG</a:t>
            </a:r>
            <a:br/>
            <a:r>
              <a:t>  Ground every recipe in a real database</a:t>
            </a:r>
            <a:br/>
            <a:r>
              <a:t>  10,000 Food.com recipes</a:t>
            </a:r>
            <a:br/>
            <a:r>
              <a:t>  Verified nutrition, traceable citations</a:t>
            </a:r>
            <a:br/>
            <a:r>
              <a:t>  LLM reasons, code verifies</a:t>
            </a:r>
          </a:p>
        </p:txBody>
      </p:sp>
      <p:pic>
        <p:nvPicPr>
          <p:cNvPr id="7" name="Picture 6" descr="knowledge_graph_single_recipe.png"/>
          <p:cNvPicPr>
            <a:picLocks noChangeAspect="1"/>
          </p:cNvPicPr>
          <p:nvPr/>
        </p:nvPicPr>
        <p:blipFill>
          <a:blip r:embed="rId3"/>
          <a:stretch>
            <a:fillRect/>
          </a:stretch>
        </p:blipFill>
        <p:spPr>
          <a:xfrm>
            <a:off x="6400800" y="914400"/>
            <a:ext cx="5303520" cy="37798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System Architecture</a:t>
            </a:r>
          </a:p>
        </p:txBody>
      </p:sp>
      <p:sp>
        <p:nvSpPr>
          <p:cNvPr id="3" name="Rectangle 2"/>
          <p:cNvSpPr/>
          <p:nvPr/>
        </p:nvSpPr>
        <p:spPr>
          <a:xfrm>
            <a:off x="731520" y="1188720"/>
            <a:ext cx="10698480" cy="50292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371600"/>
            <a:ext cx="10058400" cy="4754880"/>
          </a:xfrm>
          <a:prstGeom prst="rect">
            <a:avLst/>
          </a:prstGeom>
          <a:noFill/>
        </p:spPr>
        <p:txBody>
          <a:bodyPr wrap="square" anchor="t">
            <a:spAutoFit/>
          </a:bodyPr>
          <a:lstStyle/>
          <a:p>
            <a:pPr algn="l">
              <a:defRPr sz="1600" b="0">
                <a:solidFill>
                  <a:srgbClr val="FFFFFF"/>
                </a:solidFill>
              </a:defRPr>
            </a:pPr>
            <a:r>
              <a:t>User Input (NL or structured)</a:t>
            </a:r>
            <a:br/>
            <a:r>
              <a:t>        |</a:t>
            </a:r>
            <a:br/>
            <a:r>
              <a:t>   NL Parser  --&gt;  extracts: ingredients, cuisine, allergens, time, calories</a:t>
            </a:r>
            <a:br/>
            <a:r>
              <a:t>        |</a:t>
            </a:r>
            <a:br/>
            <a:r>
              <a:t>   Planner (LLM)  --&gt;  generates meal queries with preferred_ingredients/tags</a:t>
            </a:r>
            <a:br/>
            <a:r>
              <a:t>        |</a:t>
            </a:r>
            <a:br/>
            <a:r>
              <a:t>   Executor  --&gt;  6 deterministic tools</a:t>
            </a:r>
            <a:br/>
            <a:r>
              <a:t>        |           recipe_search (BM25 + Vector + KG)</a:t>
            </a:r>
            <a:br/>
            <a:r>
              <a:t>        |           allergy_checker, nutrition, grocery, budget, ics</a:t>
            </a:r>
            <a:br/>
            <a:r>
              <a:t>        |</a:t>
            </a:r>
            <a:br/>
            <a:r>
              <a:t>   Critic  --&gt;  rule-based verification (5 checks)</a:t>
            </a:r>
            <a:br/>
            <a:r>
              <a:t>        |</a:t>
            </a:r>
            <a:br/>
            <a:r>
              <a:t>   If invalid: retry (max 2)  |  If valid: return 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Three-Stage Hybrid Retrieval</a:t>
            </a:r>
          </a:p>
        </p:txBody>
      </p:sp>
      <p:sp>
        <p:nvSpPr>
          <p:cNvPr id="3" name="Rectangle 2"/>
          <p:cNvSpPr/>
          <p:nvPr/>
        </p:nvSpPr>
        <p:spPr>
          <a:xfrm>
            <a:off x="457200" y="1188720"/>
            <a:ext cx="3474720" cy="27432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80160"/>
            <a:ext cx="3200400" cy="457200"/>
          </a:xfrm>
          <a:prstGeom prst="rect">
            <a:avLst/>
          </a:prstGeom>
          <a:noFill/>
        </p:spPr>
        <p:txBody>
          <a:bodyPr wrap="square" anchor="t">
            <a:spAutoFit/>
          </a:bodyPr>
          <a:lstStyle/>
          <a:p>
            <a:pPr algn="l">
              <a:defRPr sz="2000" b="1">
                <a:solidFill>
                  <a:srgbClr val="00D2FF"/>
                </a:solidFill>
              </a:defRPr>
            </a:pPr>
            <a:r>
              <a:t>1. BM25 (Sparse)</a:t>
            </a:r>
          </a:p>
        </p:txBody>
      </p:sp>
      <p:sp>
        <p:nvSpPr>
          <p:cNvPr id="5" name="TextBox 4"/>
          <p:cNvSpPr txBox="1"/>
          <p:nvPr/>
        </p:nvSpPr>
        <p:spPr>
          <a:xfrm>
            <a:off x="640080" y="1737360"/>
            <a:ext cx="3200400" cy="2011680"/>
          </a:xfrm>
          <a:prstGeom prst="rect">
            <a:avLst/>
          </a:prstGeom>
          <a:noFill/>
        </p:spPr>
        <p:txBody>
          <a:bodyPr wrap="square" anchor="t">
            <a:spAutoFit/>
          </a:bodyPr>
          <a:lstStyle/>
          <a:p>
            <a:pPr algn="l">
              <a:defRPr sz="1500" b="0">
                <a:solidFill>
                  <a:srgbClr val="FFFFFF"/>
                </a:solidFill>
              </a:defRPr>
            </a:pPr>
            <a:r>
              <a:t>Exact term matching</a:t>
            </a:r>
            <a:br/>
            <a:r>
              <a:t>"vegetarian" matches tag</a:t>
            </a:r>
            <a:br/>
            <a:r>
              <a:t>IDF weighting: rare terms</a:t>
            </a:r>
            <a:br/>
            <a:r>
              <a:t>score more</a:t>
            </a:r>
            <a:br/>
            <a:r>
              <a:t>P@5 = 0.575 alone</a:t>
            </a:r>
          </a:p>
        </p:txBody>
      </p:sp>
      <p:sp>
        <p:nvSpPr>
          <p:cNvPr id="6" name="Rectangle 5"/>
          <p:cNvSpPr/>
          <p:nvPr/>
        </p:nvSpPr>
        <p:spPr>
          <a:xfrm>
            <a:off x="4297680" y="1188720"/>
            <a:ext cx="3474720" cy="27432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80560" y="1280160"/>
            <a:ext cx="3200400" cy="457200"/>
          </a:xfrm>
          <a:prstGeom prst="rect">
            <a:avLst/>
          </a:prstGeom>
          <a:noFill/>
        </p:spPr>
        <p:txBody>
          <a:bodyPr wrap="square" anchor="t">
            <a:spAutoFit/>
          </a:bodyPr>
          <a:lstStyle/>
          <a:p>
            <a:pPr algn="l">
              <a:defRPr sz="2000" b="1">
                <a:solidFill>
                  <a:srgbClr val="00D2FF"/>
                </a:solidFill>
              </a:defRPr>
            </a:pPr>
            <a:r>
              <a:t>2. Vector (Dense)</a:t>
            </a:r>
          </a:p>
        </p:txBody>
      </p:sp>
      <p:sp>
        <p:nvSpPr>
          <p:cNvPr id="8" name="TextBox 7"/>
          <p:cNvSpPr txBox="1"/>
          <p:nvPr/>
        </p:nvSpPr>
        <p:spPr>
          <a:xfrm>
            <a:off x="4480560" y="1737360"/>
            <a:ext cx="3200400" cy="2011680"/>
          </a:xfrm>
          <a:prstGeom prst="rect">
            <a:avLst/>
          </a:prstGeom>
          <a:noFill/>
        </p:spPr>
        <p:txBody>
          <a:bodyPr wrap="square" anchor="t">
            <a:spAutoFit/>
          </a:bodyPr>
          <a:lstStyle/>
          <a:p>
            <a:pPr algn="l">
              <a:defRPr sz="1500" b="0">
                <a:solidFill>
                  <a:srgbClr val="FFFFFF"/>
                </a:solidFill>
              </a:defRPr>
            </a:pPr>
            <a:r>
              <a:t>Semantic similarity</a:t>
            </a:r>
            <a:br/>
            <a:r>
              <a:t>all-MiniLM-L6 (384d, 22M)</a:t>
            </a:r>
            <a:br/>
            <a:r>
              <a:t>ChromaDB + HNSW index</a:t>
            </a:r>
            <a:br/>
            <a:r>
              <a:t>Captures paraphrases</a:t>
            </a:r>
            <a:br/>
            <a:r>
              <a:t>P@5 = 0.255 alone</a:t>
            </a:r>
          </a:p>
        </p:txBody>
      </p:sp>
      <p:sp>
        <p:nvSpPr>
          <p:cNvPr id="9" name="Rectangle 8"/>
          <p:cNvSpPr/>
          <p:nvPr/>
        </p:nvSpPr>
        <p:spPr>
          <a:xfrm>
            <a:off x="8138160" y="1188720"/>
            <a:ext cx="3474720" cy="27432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280160"/>
            <a:ext cx="3200400" cy="457200"/>
          </a:xfrm>
          <a:prstGeom prst="rect">
            <a:avLst/>
          </a:prstGeom>
          <a:noFill/>
        </p:spPr>
        <p:txBody>
          <a:bodyPr wrap="square" anchor="t">
            <a:spAutoFit/>
          </a:bodyPr>
          <a:lstStyle/>
          <a:p>
            <a:pPr algn="l">
              <a:defRPr sz="2000" b="1">
                <a:solidFill>
                  <a:srgbClr val="00D2FF"/>
                </a:solidFill>
              </a:defRPr>
            </a:pPr>
            <a:r>
              <a:t>3. RRF + KG Re-rank</a:t>
            </a:r>
          </a:p>
        </p:txBody>
      </p:sp>
      <p:sp>
        <p:nvSpPr>
          <p:cNvPr id="11" name="TextBox 10"/>
          <p:cNvSpPr txBox="1"/>
          <p:nvPr/>
        </p:nvSpPr>
        <p:spPr>
          <a:xfrm>
            <a:off x="8321040" y="1737360"/>
            <a:ext cx="3200400" cy="2011680"/>
          </a:xfrm>
          <a:prstGeom prst="rect">
            <a:avLst/>
          </a:prstGeom>
          <a:noFill/>
        </p:spPr>
        <p:txBody>
          <a:bodyPr wrap="square" anchor="t">
            <a:spAutoFit/>
          </a:bodyPr>
          <a:lstStyle/>
          <a:p>
            <a:pPr algn="l">
              <a:defRPr sz="1500" b="0">
                <a:solidFill>
                  <a:srgbClr val="FFFFFF"/>
                </a:solidFill>
              </a:defRPr>
            </a:pPr>
            <a:r>
              <a:t>RRF fuses both ranked lists</a:t>
            </a:r>
            <a:br/>
            <a:r>
              <a:t>score = 1/(k + rank + 1)</a:t>
            </a:r>
            <a:br/>
            <a:r>
              <a:t>KG boosts by ingredient</a:t>
            </a:r>
            <a:br/>
            <a:r>
              <a:t>overlap with preferences</a:t>
            </a:r>
            <a:br/>
            <a:r>
              <a:t>Full hybrid P@5 = 0.655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943A017C-DE8F-E11B-E2EC-379296245F2F}"/>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8A687EC7-DE79-7B82-D4A7-71146AA4D4FC}"/>
              </a:ext>
            </a:extLst>
          </p:cNvPr>
          <p:cNvSpPr txBox="1"/>
          <p:nvPr/>
        </p:nvSpPr>
        <p:spPr>
          <a:xfrm>
            <a:off x="457200" y="4114800"/>
            <a:ext cx="10972800" cy="457200"/>
          </a:xfrm>
          <a:prstGeom prst="rect">
            <a:avLst/>
          </a:prstGeom>
          <a:noFill/>
        </p:spPr>
        <p:txBody>
          <a:bodyPr wrap="square" anchor="t">
            <a:spAutoFit/>
          </a:bodyPr>
          <a:lstStyle/>
          <a:p>
            <a:pPr algn="ctr">
              <a:defRPr sz="1600" b="0">
                <a:solidFill>
                  <a:srgbClr val="BBBBBB"/>
                </a:solidFill>
              </a:defRPr>
            </a:pPr>
            <a:r>
              <a:t>BM25 candidates  +  Vector candidates  --&gt;  RRF fusion  --&gt;  KG re-ranking  --&gt;  Top-k results</a:t>
            </a:r>
          </a:p>
        </p:txBody>
      </p:sp>
      <p:pic>
        <p:nvPicPr>
          <p:cNvPr id="13" name="Picture 12" descr="component_contribution.png">
            <a:extLst>
              <a:ext uri="{FF2B5EF4-FFF2-40B4-BE49-F238E27FC236}">
                <a16:creationId xmlns:a16="http://schemas.microsoft.com/office/drawing/2014/main" id="{8DA59580-A865-A42C-366D-FD5931703D4A}"/>
              </a:ext>
            </a:extLst>
          </p:cNvPr>
          <p:cNvPicPr>
            <a:picLocks noChangeAspect="1"/>
          </p:cNvPicPr>
          <p:nvPr/>
        </p:nvPicPr>
        <p:blipFill>
          <a:blip r:embed="rId3"/>
          <a:stretch>
            <a:fillRect/>
          </a:stretch>
        </p:blipFill>
        <p:spPr>
          <a:xfrm>
            <a:off x="1519518" y="1028616"/>
            <a:ext cx="8695140" cy="5575871"/>
          </a:xfrm>
          <a:prstGeom prst="rect">
            <a:avLst/>
          </a:prstGeom>
        </p:spPr>
      </p:pic>
      <p:sp>
        <p:nvSpPr>
          <p:cNvPr id="14" name="TextBox 13">
            <a:extLst>
              <a:ext uri="{FF2B5EF4-FFF2-40B4-BE49-F238E27FC236}">
                <a16:creationId xmlns:a16="http://schemas.microsoft.com/office/drawing/2014/main" id="{7A314B9D-2C06-9B62-A45F-475E14F926C6}"/>
              </a:ext>
            </a:extLst>
          </p:cNvPr>
          <p:cNvSpPr txBox="1"/>
          <p:nvPr/>
        </p:nvSpPr>
        <p:spPr>
          <a:xfrm>
            <a:off x="609600" y="394448"/>
            <a:ext cx="10972800" cy="457200"/>
          </a:xfrm>
          <a:prstGeom prst="rect">
            <a:avLst/>
          </a:prstGeom>
          <a:noFill/>
        </p:spPr>
        <p:txBody>
          <a:bodyPr wrap="square" anchor="t">
            <a:spAutoFit/>
          </a:bodyPr>
          <a:lstStyle/>
          <a:p>
            <a:pPr algn="ctr">
              <a:defRPr sz="1600" b="0">
                <a:solidFill>
                  <a:srgbClr val="BBBBBB"/>
                </a:solidFill>
              </a:defRPr>
            </a:pPr>
            <a:r>
              <a:rPr dirty="0"/>
              <a:t>BM25 candidates  +  Vector candidates  --&gt;  RRF fusion  --&gt;  KG re-ranking  --&gt;  Top-k results</a:t>
            </a:r>
          </a:p>
        </p:txBody>
      </p:sp>
    </p:spTree>
    <p:extLst>
      <p:ext uri="{BB962C8B-B14F-4D97-AF65-F5344CB8AC3E}">
        <p14:creationId xmlns:p14="http://schemas.microsoft.com/office/powerpoint/2010/main" val="3381333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640080"/>
          </a:xfrm>
          <a:prstGeom prst="rect">
            <a:avLst/>
          </a:prstGeom>
          <a:noFill/>
        </p:spPr>
        <p:txBody>
          <a:bodyPr wrap="square" anchor="t">
            <a:spAutoFit/>
          </a:bodyPr>
          <a:lstStyle/>
          <a:p>
            <a:pPr algn="l">
              <a:defRPr sz="3200" b="1">
                <a:solidFill>
                  <a:srgbClr val="00D2FF"/>
                </a:solidFill>
              </a:defRPr>
            </a:pPr>
            <a:r>
              <a:t>Knowledge Graph</a:t>
            </a:r>
          </a:p>
        </p:txBody>
      </p:sp>
      <p:sp>
        <p:nvSpPr>
          <p:cNvPr id="3" name="TextBox 2"/>
          <p:cNvSpPr txBox="1"/>
          <p:nvPr/>
        </p:nvSpPr>
        <p:spPr>
          <a:xfrm>
            <a:off x="731520" y="914400"/>
            <a:ext cx="4572000" cy="365760"/>
          </a:xfrm>
          <a:prstGeom prst="rect">
            <a:avLst/>
          </a:prstGeom>
          <a:noFill/>
        </p:spPr>
        <p:txBody>
          <a:bodyPr wrap="square" anchor="t">
            <a:spAutoFit/>
          </a:bodyPr>
          <a:lstStyle/>
          <a:p>
            <a:pPr algn="l">
              <a:defRPr sz="1600" b="0">
                <a:solidFill>
                  <a:srgbClr val="BBBBBB"/>
                </a:solidFill>
              </a:defRPr>
            </a:pPr>
            <a:r>
              <a:t>15,807 nodes  |  270,466 edges  |  3 node types</a:t>
            </a:r>
          </a:p>
        </p:txBody>
      </p:sp>
      <p:pic>
        <p:nvPicPr>
          <p:cNvPr id="4" name="Picture 3" descr="kg_analysis.png"/>
          <p:cNvPicPr>
            <a:picLocks noChangeAspect="1"/>
          </p:cNvPicPr>
          <p:nvPr/>
        </p:nvPicPr>
        <p:blipFill>
          <a:blip r:embed="rId3"/>
          <a:stretch>
            <a:fillRect/>
          </a:stretch>
        </p:blipFill>
        <p:spPr>
          <a:xfrm>
            <a:off x="274320" y="1371600"/>
            <a:ext cx="11430000" cy="97113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Ablation Study Results</a:t>
            </a:r>
          </a:p>
        </p:txBody>
      </p:sp>
      <p:sp>
        <p:nvSpPr>
          <p:cNvPr id="3" name="TextBox 2"/>
          <p:cNvSpPr txBox="1"/>
          <p:nvPr/>
        </p:nvSpPr>
        <p:spPr>
          <a:xfrm>
            <a:off x="731520" y="822960"/>
            <a:ext cx="5486400" cy="365760"/>
          </a:xfrm>
          <a:prstGeom prst="rect">
            <a:avLst/>
          </a:prstGeom>
          <a:noFill/>
        </p:spPr>
        <p:txBody>
          <a:bodyPr wrap="square" anchor="t">
            <a:spAutoFit/>
          </a:bodyPr>
          <a:lstStyle/>
          <a:p>
            <a:pPr algn="l">
              <a:defRPr sz="1400" b="0">
                <a:solidFill>
                  <a:srgbClr val="BBBBBB"/>
                </a:solidFill>
              </a:defRPr>
            </a:pPr>
            <a:r>
              <a:t>40 stratified queries across 5 types</a:t>
            </a:r>
          </a:p>
        </p:txBody>
      </p:sp>
      <p:pic>
        <p:nvPicPr>
          <p:cNvPr id="4" name="Picture 3" descr="ablation_comparison.png"/>
          <p:cNvPicPr>
            <a:picLocks noChangeAspect="1"/>
          </p:cNvPicPr>
          <p:nvPr/>
        </p:nvPicPr>
        <p:blipFill>
          <a:blip r:embed="rId3"/>
          <a:stretch>
            <a:fillRect/>
          </a:stretch>
        </p:blipFill>
        <p:spPr>
          <a:xfrm>
            <a:off x="274320" y="1188720"/>
            <a:ext cx="11430000" cy="5659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Statistical Significance</a:t>
            </a:r>
          </a:p>
        </p:txBody>
      </p:sp>
      <p:pic>
        <p:nvPicPr>
          <p:cNvPr id="3" name="Picture 2" descr="ablation_with_ci.png"/>
          <p:cNvPicPr>
            <a:picLocks noChangeAspect="1"/>
          </p:cNvPicPr>
          <p:nvPr/>
        </p:nvPicPr>
        <p:blipFill>
          <a:blip r:embed="rId3"/>
          <a:stretch>
            <a:fillRect/>
          </a:stretch>
        </p:blipFill>
        <p:spPr>
          <a:xfrm>
            <a:off x="274320" y="1097280"/>
            <a:ext cx="11430000" cy="3933453"/>
          </a:xfrm>
          <a:prstGeom prst="rect">
            <a:avLst/>
          </a:prstGeom>
        </p:spPr>
      </p:pic>
      <p:sp>
        <p:nvSpPr>
          <p:cNvPr id="4" name="Rectangle 3"/>
          <p:cNvSpPr/>
          <p:nvPr/>
        </p:nvSpPr>
        <p:spPr>
          <a:xfrm>
            <a:off x="731520" y="5303520"/>
            <a:ext cx="10698480" cy="118872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5394960"/>
            <a:ext cx="10058400" cy="1005840"/>
          </a:xfrm>
          <a:prstGeom prst="rect">
            <a:avLst/>
          </a:prstGeom>
          <a:noFill/>
        </p:spPr>
        <p:txBody>
          <a:bodyPr wrap="square" anchor="t">
            <a:spAutoFit/>
          </a:bodyPr>
          <a:lstStyle/>
          <a:p>
            <a:pPr algn="l">
              <a:defRPr sz="1400" b="0">
                <a:solidFill>
                  <a:srgbClr val="FFFFFF"/>
                </a:solidFill>
              </a:defRPr>
            </a:pPr>
            <a:r>
              <a:t>full_hybrid vs vector_only (P@5):  d = 1.225 (large),  p &lt; 0.001</a:t>
            </a:r>
            <a:br/>
            <a:r>
              <a:t>KG disabled (w=0) drops P@5 by 44% and NDCG@10 by 47%</a:t>
            </a:r>
            <a:br/>
            <a:r>
              <a:t>4 of 5 metrics pass Bonferroni correction (alpha = 0.0033)  |  n = 40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Hyperparameter Sensitivity</a:t>
            </a:r>
          </a:p>
        </p:txBody>
      </p:sp>
      <p:pic>
        <p:nvPicPr>
          <p:cNvPr id="3" name="Picture 2" descr="hyperparam_sensitivity.png"/>
          <p:cNvPicPr>
            <a:picLocks noChangeAspect="1"/>
          </p:cNvPicPr>
          <p:nvPr/>
        </p:nvPicPr>
        <p:blipFill>
          <a:blip r:embed="rId3"/>
          <a:stretch>
            <a:fillRect/>
          </a:stretch>
        </p:blipFill>
        <p:spPr>
          <a:xfrm>
            <a:off x="274320" y="1097280"/>
            <a:ext cx="11430000" cy="3366913"/>
          </a:xfrm>
          <a:prstGeom prst="rect">
            <a:avLst/>
          </a:prstGeom>
        </p:spPr>
      </p:pic>
      <p:sp>
        <p:nvSpPr>
          <p:cNvPr id="4" name="Rectangle 3"/>
          <p:cNvSpPr/>
          <p:nvPr/>
        </p:nvSpPr>
        <p:spPr>
          <a:xfrm>
            <a:off x="731520" y="5029200"/>
            <a:ext cx="10698480" cy="13716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5120640"/>
            <a:ext cx="10058400" cy="1188720"/>
          </a:xfrm>
          <a:prstGeom prst="rect">
            <a:avLst/>
          </a:prstGeom>
          <a:noFill/>
        </p:spPr>
        <p:txBody>
          <a:bodyPr wrap="square">
            <a:spAutoFit/>
          </a:bodyPr>
          <a:lstStyle/>
          <a:p>
            <a:pPr>
              <a:spcAft>
                <a:spcPts val="800"/>
              </a:spcAft>
              <a:defRPr sz="1400">
                <a:solidFill>
                  <a:srgbClr val="FFFFFF"/>
                </a:solidFill>
              </a:defRPr>
            </a:pPr>
            <a:r>
              <a:t>top_k: most impactful. k=5 to k=50 improves NDCG@10 by 156%</a:t>
            </a:r>
          </a:p>
          <a:p>
            <a:pPr>
              <a:spcAft>
                <a:spcPts val="800"/>
              </a:spcAft>
              <a:defRPr sz="1400">
                <a:solidFill>
                  <a:srgbClr val="FFFFFF"/>
                </a:solidFill>
              </a:defRPr>
            </a:pPr>
            <a:r>
              <a:t>RRF k: robust across [30, 200]. Default k=60 is optimal</a:t>
            </a:r>
          </a:p>
          <a:p>
            <a:pPr>
              <a:spcAft>
                <a:spcPts val="800"/>
              </a:spcAft>
              <a:defRPr sz="1400">
                <a:solidFill>
                  <a:srgbClr val="FFFFFF"/>
                </a:solidFill>
              </a:defRPr>
            </a:pPr>
            <a:r>
              <a:t>KG weight: binary effect. Any w &gt; 0 restores full performance; no degradation at w=1.0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Performance by Query Type</a:t>
            </a:r>
          </a:p>
        </p:txBody>
      </p:sp>
      <p:pic>
        <p:nvPicPr>
          <p:cNvPr id="3" name="Picture 2" descr="query_type_breakdown.png"/>
          <p:cNvPicPr>
            <a:picLocks noChangeAspect="1"/>
          </p:cNvPicPr>
          <p:nvPr/>
        </p:nvPicPr>
        <p:blipFill>
          <a:blip r:embed="rId3"/>
          <a:stretch>
            <a:fillRect/>
          </a:stretch>
        </p:blipFill>
        <p:spPr>
          <a:xfrm>
            <a:off x="274320" y="1097280"/>
            <a:ext cx="6858000" cy="3400600"/>
          </a:xfrm>
          <a:prstGeom prst="rect">
            <a:avLst/>
          </a:prstGeom>
        </p:spPr>
      </p:pic>
      <p:sp>
        <p:nvSpPr>
          <p:cNvPr id="4" name="Rectangle 3"/>
          <p:cNvSpPr/>
          <p:nvPr/>
        </p:nvSpPr>
        <p:spPr>
          <a:xfrm>
            <a:off x="7498079" y="1097280"/>
            <a:ext cx="4114800" cy="502920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0" y="1371600"/>
            <a:ext cx="3657600" cy="4572000"/>
          </a:xfrm>
          <a:prstGeom prst="rect">
            <a:avLst/>
          </a:prstGeom>
          <a:noFill/>
        </p:spPr>
        <p:txBody>
          <a:bodyPr wrap="square">
            <a:spAutoFit/>
          </a:bodyPr>
          <a:lstStyle/>
          <a:p>
            <a:pPr>
              <a:spcAft>
                <a:spcPts val="800"/>
              </a:spcAft>
              <a:defRPr sz="1400">
                <a:solidFill>
                  <a:srgbClr val="FFFFFF"/>
                </a:solidFill>
              </a:defRPr>
            </a:pPr>
            <a:r>
              <a:t>Tag-single: all configs</a:t>
            </a:r>
            <a:br/>
            <a:r>
              <a:t>do well (MRR 0.87-1.0)</a:t>
            </a:r>
          </a:p>
          <a:p>
            <a:pPr>
              <a:spcAft>
                <a:spcPts val="800"/>
              </a:spcAft>
              <a:defRPr sz="1400">
                <a:solidFill>
                  <a:srgbClr val="FFFFFF"/>
                </a:solidFill>
              </a:defRPr>
            </a:pPr>
            <a:endParaRPr/>
          </a:p>
          <a:p>
            <a:pPr>
              <a:spcAft>
                <a:spcPts val="800"/>
              </a:spcAft>
              <a:defRPr sz="1400">
                <a:solidFill>
                  <a:srgbClr val="FFFFFF"/>
                </a:solidFill>
              </a:defRPr>
            </a:pPr>
            <a:r>
              <a:t>Ingredient queries: KG</a:t>
            </a:r>
            <a:br/>
            <a:r>
              <a:t>makes the biggest difference</a:t>
            </a:r>
            <a:br/>
            <a:r>
              <a:t>(MRR 0.17 to 0.75)</a:t>
            </a:r>
          </a:p>
          <a:p>
            <a:pPr>
              <a:spcAft>
                <a:spcPts val="800"/>
              </a:spcAft>
              <a:defRPr sz="1400">
                <a:solidFill>
                  <a:srgbClr val="FFFFFF"/>
                </a:solidFill>
              </a:defRPr>
            </a:pPr>
            <a:endParaRPr/>
          </a:p>
          <a:p>
            <a:pPr>
              <a:spcAft>
                <a:spcPts val="800"/>
              </a:spcAft>
              <a:defRPr sz="1400">
                <a:solidFill>
                  <a:srgbClr val="FFFFFF"/>
                </a:solidFill>
              </a:defRPr>
            </a:pPr>
            <a:r>
              <a:t>NL queries: BM25-based</a:t>
            </a:r>
            <a:br/>
            <a:r>
              <a:t>configs lead (MRR 0.56)</a:t>
            </a:r>
            <a:br/>
            <a:r>
              <a:t>Full hybrid drops to 0.33</a:t>
            </a:r>
          </a:p>
          <a:p>
            <a:pPr>
              <a:spcAft>
                <a:spcPts val="800"/>
              </a:spcAft>
              <a:defRPr sz="1400">
                <a:solidFill>
                  <a:srgbClr val="FFFFFF"/>
                </a:solidFill>
              </a:defRPr>
            </a:pPr>
            <a:endParaRPr/>
          </a:p>
          <a:p>
            <a:pPr>
              <a:spcAft>
                <a:spcPts val="800"/>
              </a:spcAft>
              <a:defRPr sz="1400">
                <a:solidFill>
                  <a:srgbClr val="FFFFFF"/>
                </a:solidFill>
              </a:defRPr>
            </a:pPr>
            <a:r>
              <a:t>Full hybrid wins aggregate</a:t>
            </a:r>
            <a:br/>
            <a:r>
              <a:t>but has NL weakness;</a:t>
            </a:r>
            <a:br/>
            <a:r>
              <a:t>KG is what makes fusion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Embedding Space Visualization</a:t>
            </a:r>
          </a:p>
        </p:txBody>
      </p:sp>
      <p:pic>
        <p:nvPicPr>
          <p:cNvPr id="3" name="Picture 2" descr="embedding_space_umap.png"/>
          <p:cNvPicPr>
            <a:picLocks noChangeAspect="1"/>
          </p:cNvPicPr>
          <p:nvPr/>
        </p:nvPicPr>
        <p:blipFill>
          <a:blip r:embed="rId3"/>
          <a:stretch>
            <a:fillRect/>
          </a:stretch>
        </p:blipFill>
        <p:spPr>
          <a:xfrm>
            <a:off x="182880" y="914400"/>
            <a:ext cx="6385707" cy="5303520"/>
          </a:xfrm>
          <a:prstGeom prst="rect">
            <a:avLst/>
          </a:prstGeom>
        </p:spPr>
      </p:pic>
      <p:pic>
        <p:nvPicPr>
          <p:cNvPr id="4" name="Picture 3" descr="embedding_space_tsne.png"/>
          <p:cNvPicPr>
            <a:picLocks noChangeAspect="1"/>
          </p:cNvPicPr>
          <p:nvPr/>
        </p:nvPicPr>
        <p:blipFill>
          <a:blip r:embed="rId4"/>
          <a:stretch>
            <a:fillRect/>
          </a:stretch>
        </p:blipFill>
        <p:spPr>
          <a:xfrm>
            <a:off x="6035040" y="914400"/>
            <a:ext cx="6388392" cy="5303520"/>
          </a:xfrm>
          <a:prstGeom prst="rect">
            <a:avLst/>
          </a:prstGeom>
        </p:spPr>
      </p:pic>
      <p:sp>
        <p:nvSpPr>
          <p:cNvPr id="5" name="TextBox 4"/>
          <p:cNvSpPr txBox="1"/>
          <p:nvPr/>
        </p:nvSpPr>
        <p:spPr>
          <a:xfrm>
            <a:off x="182880" y="6309360"/>
            <a:ext cx="5486400" cy="365760"/>
          </a:xfrm>
          <a:prstGeom prst="rect">
            <a:avLst/>
          </a:prstGeom>
          <a:noFill/>
        </p:spPr>
        <p:txBody>
          <a:bodyPr wrap="square" anchor="t">
            <a:spAutoFit/>
          </a:bodyPr>
          <a:lstStyle/>
          <a:p>
            <a:pPr algn="ctr">
              <a:defRPr sz="1400" b="0">
                <a:solidFill>
                  <a:srgbClr val="BBBBBB"/>
                </a:solidFill>
              </a:defRPr>
            </a:pPr>
            <a:r>
              <a:t>UMAP  |  Silhouette: -0.269</a:t>
            </a:r>
          </a:p>
        </p:txBody>
      </p:sp>
      <p:sp>
        <p:nvSpPr>
          <p:cNvPr id="6" name="TextBox 5"/>
          <p:cNvSpPr txBox="1"/>
          <p:nvPr/>
        </p:nvSpPr>
        <p:spPr>
          <a:xfrm>
            <a:off x="6035040" y="6309360"/>
            <a:ext cx="5486400" cy="365760"/>
          </a:xfrm>
          <a:prstGeom prst="rect">
            <a:avLst/>
          </a:prstGeom>
          <a:noFill/>
        </p:spPr>
        <p:txBody>
          <a:bodyPr wrap="square" anchor="t">
            <a:spAutoFit/>
          </a:bodyPr>
          <a:lstStyle/>
          <a:p>
            <a:pPr algn="ctr">
              <a:defRPr sz="1400" b="0">
                <a:solidFill>
                  <a:srgbClr val="BBBBBB"/>
                </a:solidFill>
              </a:defRPr>
            </a:pPr>
            <a:r>
              <a:t>t-SNE  |  2,000 recipes, 11 cuisines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Precision-Recall &amp; Latency</a:t>
            </a:r>
          </a:p>
        </p:txBody>
      </p:sp>
      <p:pic>
        <p:nvPicPr>
          <p:cNvPr id="3" name="Picture 2" descr="precision_recall_curves.png"/>
          <p:cNvPicPr>
            <a:picLocks noChangeAspect="1"/>
          </p:cNvPicPr>
          <p:nvPr/>
        </p:nvPicPr>
        <p:blipFill>
          <a:blip r:embed="rId3"/>
          <a:stretch>
            <a:fillRect/>
          </a:stretch>
        </p:blipFill>
        <p:spPr>
          <a:xfrm>
            <a:off x="182880" y="1005840"/>
            <a:ext cx="5760720" cy="4595172"/>
          </a:xfrm>
          <a:prstGeom prst="rect">
            <a:avLst/>
          </a:prstGeom>
        </p:spPr>
      </p:pic>
      <p:pic>
        <p:nvPicPr>
          <p:cNvPr id="4" name="Picture 3" descr="retrieval_latency.png"/>
          <p:cNvPicPr>
            <a:picLocks noChangeAspect="1"/>
          </p:cNvPicPr>
          <p:nvPr/>
        </p:nvPicPr>
        <p:blipFill>
          <a:blip r:embed="rId4"/>
          <a:stretch>
            <a:fillRect/>
          </a:stretch>
        </p:blipFill>
        <p:spPr>
          <a:xfrm>
            <a:off x="6217920" y="1005840"/>
            <a:ext cx="5486400" cy="32657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nchor="t">
            <a:spAutoFit/>
          </a:bodyPr>
          <a:lstStyle/>
          <a:p>
            <a:pPr algn="l">
              <a:defRPr sz="3200" b="1">
                <a:solidFill>
                  <a:srgbClr val="00D2FF"/>
                </a:solidFill>
              </a:defRPr>
            </a:pPr>
            <a:r>
              <a:t>Key Takeaways</a:t>
            </a:r>
          </a:p>
        </p:txBody>
      </p:sp>
      <p:sp>
        <p:nvSpPr>
          <p:cNvPr id="3" name="Rectangle 2"/>
          <p:cNvSpPr/>
          <p:nvPr/>
        </p:nvSpPr>
        <p:spPr>
          <a:xfrm>
            <a:off x="731520" y="1097280"/>
            <a:ext cx="10698480" cy="118872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188720"/>
            <a:ext cx="10058400" cy="365760"/>
          </a:xfrm>
          <a:prstGeom prst="rect">
            <a:avLst/>
          </a:prstGeom>
          <a:noFill/>
        </p:spPr>
        <p:txBody>
          <a:bodyPr wrap="square" anchor="t">
            <a:spAutoFit/>
          </a:bodyPr>
          <a:lstStyle/>
          <a:p>
            <a:pPr algn="l">
              <a:defRPr sz="2000" b="1">
                <a:solidFill>
                  <a:srgbClr val="00D2FF"/>
                </a:solidFill>
              </a:defRPr>
            </a:pPr>
            <a:r>
              <a:t>Full hybrid wins every aggregate metric</a:t>
            </a:r>
          </a:p>
        </p:txBody>
      </p:sp>
      <p:sp>
        <p:nvSpPr>
          <p:cNvPr id="5" name="TextBox 4"/>
          <p:cNvSpPr txBox="1"/>
          <p:nvPr/>
        </p:nvSpPr>
        <p:spPr>
          <a:xfrm>
            <a:off x="1005840" y="1600200"/>
            <a:ext cx="10058400" cy="640080"/>
          </a:xfrm>
          <a:prstGeom prst="rect">
            <a:avLst/>
          </a:prstGeom>
          <a:noFill/>
        </p:spPr>
        <p:txBody>
          <a:bodyPr wrap="square" anchor="t">
            <a:spAutoFit/>
          </a:bodyPr>
          <a:lstStyle/>
          <a:p>
            <a:pPr algn="l">
              <a:defRPr sz="1400" b="0">
                <a:solidFill>
                  <a:srgbClr val="BBBBBB"/>
                </a:solidFill>
              </a:defRPr>
            </a:pPr>
            <a:r>
              <a:t>P@5=0.655, MRR=0.688, NDCG@10=0.438</a:t>
            </a:r>
            <a:br/>
            <a:r>
              <a:t>+14% over BM25-only; d=1.225 on P@5 (p&lt;0.001)</a:t>
            </a:r>
          </a:p>
        </p:txBody>
      </p:sp>
      <p:sp>
        <p:nvSpPr>
          <p:cNvPr id="6" name="Rectangle 5"/>
          <p:cNvSpPr/>
          <p:nvPr/>
        </p:nvSpPr>
        <p:spPr>
          <a:xfrm>
            <a:off x="731520" y="2468880"/>
            <a:ext cx="10698480" cy="118872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560320"/>
            <a:ext cx="10058400" cy="365760"/>
          </a:xfrm>
          <a:prstGeom prst="rect">
            <a:avLst/>
          </a:prstGeom>
          <a:noFill/>
        </p:spPr>
        <p:txBody>
          <a:bodyPr wrap="square" anchor="t">
            <a:spAutoFit/>
          </a:bodyPr>
          <a:lstStyle/>
          <a:p>
            <a:pPr algn="l">
              <a:defRPr sz="2000" b="1">
                <a:solidFill>
                  <a:srgbClr val="00D2FF"/>
                </a:solidFill>
              </a:defRPr>
            </a:pPr>
            <a:r>
              <a:t>KG makes fusion work; without it, RRF hurts</a:t>
            </a:r>
          </a:p>
        </p:txBody>
      </p:sp>
      <p:sp>
        <p:nvSpPr>
          <p:cNvPr id="8" name="TextBox 7"/>
          <p:cNvSpPr txBox="1"/>
          <p:nvPr/>
        </p:nvSpPr>
        <p:spPr>
          <a:xfrm>
            <a:off x="1005840" y="2971800"/>
            <a:ext cx="10058400" cy="640080"/>
          </a:xfrm>
          <a:prstGeom prst="rect">
            <a:avLst/>
          </a:prstGeom>
          <a:noFill/>
        </p:spPr>
        <p:txBody>
          <a:bodyPr wrap="square" anchor="t">
            <a:spAutoFit/>
          </a:bodyPr>
          <a:lstStyle/>
          <a:p>
            <a:pPr algn="l">
              <a:defRPr sz="1400" b="0">
                <a:solidFill>
                  <a:srgbClr val="BBBBBB"/>
                </a:solidFill>
              </a:defRPr>
            </a:pPr>
            <a:r>
              <a:t>RRF without KG drops P@5 36% below BM25-only</a:t>
            </a:r>
            <a:br/>
            <a:r>
              <a:t>KG re-ranking recovers and surpasses (+14%)</a:t>
            </a:r>
          </a:p>
        </p:txBody>
      </p:sp>
      <p:sp>
        <p:nvSpPr>
          <p:cNvPr id="9" name="Rectangle 8"/>
          <p:cNvSpPr/>
          <p:nvPr/>
        </p:nvSpPr>
        <p:spPr>
          <a:xfrm>
            <a:off x="731520" y="3840480"/>
            <a:ext cx="10698480" cy="118872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931920"/>
            <a:ext cx="10058400" cy="365760"/>
          </a:xfrm>
          <a:prstGeom prst="rect">
            <a:avLst/>
          </a:prstGeom>
          <a:noFill/>
        </p:spPr>
        <p:txBody>
          <a:bodyPr wrap="square" anchor="t">
            <a:spAutoFit/>
          </a:bodyPr>
          <a:lstStyle/>
          <a:p>
            <a:pPr algn="l">
              <a:defRPr sz="2000" b="1">
                <a:solidFill>
                  <a:srgbClr val="00D2FF"/>
                </a:solidFill>
              </a:defRPr>
            </a:pPr>
            <a:r>
              <a:t>top_k is the most impactful hyperparameter</a:t>
            </a:r>
          </a:p>
        </p:txBody>
      </p:sp>
      <p:sp>
        <p:nvSpPr>
          <p:cNvPr id="11" name="TextBox 10"/>
          <p:cNvSpPr txBox="1"/>
          <p:nvPr/>
        </p:nvSpPr>
        <p:spPr>
          <a:xfrm>
            <a:off x="1005840" y="4343400"/>
            <a:ext cx="10058400" cy="640080"/>
          </a:xfrm>
          <a:prstGeom prst="rect">
            <a:avLst/>
          </a:prstGeom>
          <a:noFill/>
        </p:spPr>
        <p:txBody>
          <a:bodyPr wrap="square" anchor="t">
            <a:spAutoFit/>
          </a:bodyPr>
          <a:lstStyle/>
          <a:p>
            <a:pPr algn="l">
              <a:defRPr sz="1400" b="0">
                <a:solidFill>
                  <a:srgbClr val="BBBBBB"/>
                </a:solidFill>
              </a:defRPr>
            </a:pPr>
            <a:r>
              <a:t>k=5 to k=50: NDCG@10 +156%, AP +189%</a:t>
            </a:r>
            <a:br/>
            <a:r>
              <a:t>Deeper retrieval amplifies KG effectiveness</a:t>
            </a:r>
          </a:p>
        </p:txBody>
      </p:sp>
      <p:sp>
        <p:nvSpPr>
          <p:cNvPr id="12" name="Rectangle 11"/>
          <p:cNvSpPr/>
          <p:nvPr/>
        </p:nvSpPr>
        <p:spPr>
          <a:xfrm>
            <a:off x="731520" y="5212080"/>
            <a:ext cx="10698480" cy="1188720"/>
          </a:xfrm>
          <a:prstGeom prst="rect">
            <a:avLst/>
          </a:prstGeom>
          <a:solidFill>
            <a:srgbClr val="252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5303520"/>
            <a:ext cx="10058400" cy="365760"/>
          </a:xfrm>
          <a:prstGeom prst="rect">
            <a:avLst/>
          </a:prstGeom>
          <a:noFill/>
        </p:spPr>
        <p:txBody>
          <a:bodyPr wrap="square" anchor="t">
            <a:spAutoFit/>
          </a:bodyPr>
          <a:lstStyle/>
          <a:p>
            <a:pPr algn="l">
              <a:defRPr sz="2000" b="1">
                <a:solidFill>
                  <a:srgbClr val="00D2FF"/>
                </a:solidFill>
              </a:defRPr>
            </a:pPr>
            <a:r>
              <a:t>Each component has genuine strengths and weaknesses</a:t>
            </a:r>
          </a:p>
        </p:txBody>
      </p:sp>
      <p:sp>
        <p:nvSpPr>
          <p:cNvPr id="14" name="TextBox 13"/>
          <p:cNvSpPr txBox="1"/>
          <p:nvPr/>
        </p:nvSpPr>
        <p:spPr>
          <a:xfrm>
            <a:off x="1005840" y="5715000"/>
            <a:ext cx="10058400" cy="640080"/>
          </a:xfrm>
          <a:prstGeom prst="rect">
            <a:avLst/>
          </a:prstGeom>
          <a:noFill/>
        </p:spPr>
        <p:txBody>
          <a:bodyPr wrap="square" anchor="t">
            <a:spAutoFit/>
          </a:bodyPr>
          <a:lstStyle/>
          <a:p>
            <a:pPr algn="l">
              <a:defRPr sz="1400" b="0">
                <a:solidFill>
                  <a:srgbClr val="BBBBBB"/>
                </a:solidFill>
              </a:defRPr>
            </a:pPr>
            <a:r>
              <a:t>BM25 leads NL queries (0.56 vs 0.33); KG drives ingredients</a:t>
            </a:r>
            <a:br/>
            <a:r>
              <a:t>Full hybrid wins aggregate, not every query 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3429</Words>
  <Application>Microsoft Macintosh PowerPoint</Application>
  <PresentationFormat>Widescreen</PresentationFormat>
  <Paragraphs>131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Parth Patel</cp:lastModifiedBy>
  <cp:revision>4</cp:revision>
  <dcterms:created xsi:type="dcterms:W3CDTF">2013-01-27T09:14:16Z</dcterms:created>
  <dcterms:modified xsi:type="dcterms:W3CDTF">2026-05-08T21:15:53Z</dcterms:modified>
  <cp:category/>
</cp:coreProperties>
</file>